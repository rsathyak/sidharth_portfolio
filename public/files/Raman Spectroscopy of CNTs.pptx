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Shape 3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Shape 4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Shape 4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Shape 5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Shape 6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Shape 7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Shape 9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Shape 10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http://pubs.rsc.org/en/content/articlehtml/2016/ra/c5ra28181d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Shape 13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Shape 14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Shape 15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Shape 16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Shape 17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Shape 17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Shape 18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layout with centered title and subtitle placeholders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/>
          <p:nvPr>
            <p:ph type="ctrTitle"/>
          </p:nvPr>
        </p:nvSpPr>
        <p:spPr>
          <a:xfrm>
            <a:off x="914400" y="2130425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21" name="Shape 2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•"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–"/>
              <a:defRPr b="0" i="0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22" name="Shape 22"/>
          <p:cNvSpPr txBox="1"/>
          <p:nvPr>
            <p:ph idx="10" type="dt"/>
          </p:nvPr>
        </p:nvSpPr>
        <p:spPr>
          <a:xfrm>
            <a:off x="914400" y="62484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23" name="Shape 23"/>
          <p:cNvSpPr txBox="1"/>
          <p:nvPr>
            <p:ph idx="11" type="ftr"/>
          </p:nvPr>
        </p:nvSpPr>
        <p:spPr>
          <a:xfrm>
            <a:off x="4165600" y="6248400"/>
            <a:ext cx="613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3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Shape 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Shape 2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Shape 2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Shape 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/>
          <p:nvPr/>
        </p:nvSpPr>
        <p:spPr>
          <a:xfrm>
            <a:off x="1270000" y="685800"/>
            <a:ext cx="109221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" name="Shape 7"/>
          <p:cNvSpPr/>
          <p:nvPr/>
        </p:nvSpPr>
        <p:spPr>
          <a:xfrm>
            <a:off x="0" y="0"/>
            <a:ext cx="12192000" cy="492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" name="Shape 8"/>
          <p:cNvSpPr/>
          <p:nvPr/>
        </p:nvSpPr>
        <p:spPr>
          <a:xfrm>
            <a:off x="-21167" y="0"/>
            <a:ext cx="406500" cy="6858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9" name="Shape 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4800" y="87312"/>
            <a:ext cx="4724399" cy="4143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Shape 10"/>
          <p:cNvCxnSpPr/>
          <p:nvPr/>
        </p:nvCxnSpPr>
        <p:spPr>
          <a:xfrm>
            <a:off x="0" y="520700"/>
            <a:ext cx="12192000" cy="0"/>
          </a:xfrm>
          <a:prstGeom prst="straightConnector1">
            <a:avLst/>
          </a:prstGeom>
          <a:noFill/>
          <a:ln cap="flat" cmpd="sng" w="76200">
            <a:solidFill>
              <a:srgbClr val="FFCE36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" name="Shape 11"/>
          <p:cNvSpPr/>
          <p:nvPr/>
        </p:nvSpPr>
        <p:spPr>
          <a:xfrm>
            <a:off x="575733" y="685800"/>
            <a:ext cx="3420600" cy="6172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575733" y="6096000"/>
            <a:ext cx="778800" cy="7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3" name="Shape 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63767" y="6284912"/>
            <a:ext cx="944562" cy="3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Shape 14"/>
          <p:cNvSpPr txBox="1"/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" type="body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•"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–"/>
              <a:defRPr b="0" i="0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6" name="Shape 16"/>
          <p:cNvSpPr txBox="1"/>
          <p:nvPr>
            <p:ph idx="10" type="dt"/>
          </p:nvPr>
        </p:nvSpPr>
        <p:spPr>
          <a:xfrm>
            <a:off x="914400" y="62484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7" name="Shape 17"/>
          <p:cNvSpPr txBox="1"/>
          <p:nvPr>
            <p:ph idx="11" type="ftr"/>
          </p:nvPr>
        </p:nvSpPr>
        <p:spPr>
          <a:xfrm>
            <a:off x="4165600" y="6248400"/>
            <a:ext cx="613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8" name="Shape 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gif"/><Relationship Id="rId4" Type="http://schemas.openxmlformats.org/officeDocument/2006/relationships/hyperlink" Target="https://spinoff.com/uploads/images/5a61bff027760" TargetMode="External"/><Relationship Id="rId5" Type="http://schemas.openxmlformats.org/officeDocument/2006/relationships/image" Target="../media/image4.png"/><Relationship Id="rId6" Type="http://schemas.openxmlformats.org/officeDocument/2006/relationships/hyperlink" Target="http://jnm.snmjournals.org/content/48/7/1039/F1.larg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gif"/><Relationship Id="rId4" Type="http://schemas.openxmlformats.org/officeDocument/2006/relationships/image" Target="../media/image6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/>
          <p:nvPr>
            <p:ph type="ctrTitle"/>
          </p:nvPr>
        </p:nvSpPr>
        <p:spPr>
          <a:xfrm>
            <a:off x="1000271" y="1078192"/>
            <a:ext cx="10204500" cy="33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0"/>
              <a:buFont typeface="Times New Roman"/>
              <a:buNone/>
            </a:pPr>
            <a:br>
              <a:rPr b="1" i="0" lang="en-US" sz="6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0" sz="600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0"/>
              <a:buFont typeface="Times New Roman"/>
              <a:buNone/>
            </a:pPr>
            <a:r>
              <a:rPr b="1" lang="en-US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RAMAN SPECTROSCOPY</a:t>
            </a:r>
            <a:r>
              <a:rPr b="1" i="0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CARBON </a:t>
            </a:r>
            <a:r>
              <a:rPr b="1" lang="en-US" sz="6000">
                <a:latin typeface="Calibri"/>
                <a:ea typeface="Calibri"/>
                <a:cs typeface="Calibri"/>
                <a:sym typeface="Calibri"/>
              </a:rPr>
              <a:t>NANOTUBES</a:t>
            </a:r>
            <a:br>
              <a:rPr b="0" i="0" lang="en-US" sz="6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6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Shape 36"/>
          <p:cNvSpPr txBox="1"/>
          <p:nvPr>
            <p:ph idx="1" type="subTitle"/>
          </p:nvPr>
        </p:nvSpPr>
        <p:spPr>
          <a:xfrm>
            <a:off x="619275" y="5127600"/>
            <a:ext cx="6273300" cy="13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MADHAVA REDDY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VARAKANTHAM </a:t>
            </a:r>
            <a:endParaRPr sz="18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SIDHARTH  SUKUMARAN  NAIR </a:t>
            </a:r>
            <a:endParaRPr sz="18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VAISHAKH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GOPALAKRISHNAN  NAIR 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Shape 37"/>
          <p:cNvSpPr txBox="1"/>
          <p:nvPr>
            <p:ph idx="12" type="sldNum"/>
          </p:nvPr>
        </p:nvSpPr>
        <p:spPr>
          <a:xfrm>
            <a:off x="11647500" y="6402300"/>
            <a:ext cx="544500" cy="4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99999"/>
                </a:solidFill>
              </a:rPr>
              <a:t>   </a:t>
            </a:r>
            <a:fld id="{00000000-1234-1234-1234-123412341234}" type="slidenum">
              <a:rPr lang="en-US" sz="1800">
                <a:solidFill>
                  <a:srgbClr val="999999"/>
                </a:solidFill>
              </a:rPr>
              <a:t>‹#›</a:t>
            </a:fld>
            <a:endParaRPr sz="18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type="title"/>
          </p:nvPr>
        </p:nvSpPr>
        <p:spPr>
          <a:xfrm>
            <a:off x="784600" y="484575"/>
            <a:ext cx="107217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i="0" lang="en-US" sz="4000" cap="none" strike="noStrike">
                <a:solidFill>
                  <a:srgbClr val="0000FF"/>
                </a:solidFill>
              </a:rPr>
              <a:t>C</a:t>
            </a:r>
            <a:r>
              <a:rPr b="1" lang="en-US" sz="4000">
                <a:solidFill>
                  <a:srgbClr val="0000FF"/>
                </a:solidFill>
              </a:rPr>
              <a:t>ontents</a:t>
            </a:r>
            <a:endParaRPr b="1" i="0" sz="4000" cap="none" strike="noStrike">
              <a:solidFill>
                <a:srgbClr val="0000FF"/>
              </a:solidFill>
            </a:endParaRPr>
          </a:p>
        </p:txBody>
      </p:sp>
      <p:sp>
        <p:nvSpPr>
          <p:cNvPr id="43" name="Shape 43"/>
          <p:cNvSpPr txBox="1"/>
          <p:nvPr>
            <p:ph idx="1" type="body"/>
          </p:nvPr>
        </p:nvSpPr>
        <p:spPr>
          <a:xfrm>
            <a:off x="1616525" y="1174575"/>
            <a:ext cx="8131500" cy="50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41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➤"/>
            </a:pPr>
            <a:r>
              <a:rPr lang="en-US" sz="2100"/>
              <a:t>Introduction</a:t>
            </a:r>
            <a:endParaRPr sz="2100"/>
          </a:p>
          <a:p>
            <a:pPr indent="-1905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Carbon </a:t>
            </a:r>
            <a:r>
              <a:rPr lang="en-US" sz="1800"/>
              <a:t>Nano Materials</a:t>
            </a:r>
            <a:endParaRPr sz="1800"/>
          </a:p>
          <a:p>
            <a:pPr indent="-1905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Carbon Nanotubes</a:t>
            </a:r>
            <a:endParaRPr sz="1800"/>
          </a:p>
          <a:p>
            <a:pPr indent="-18415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➤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Raman Spectroscopy</a:t>
            </a:r>
            <a:endParaRPr sz="2100"/>
          </a:p>
          <a:p>
            <a:pPr indent="-190500" lvl="1" marL="685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/>
              <a:t>Advantages and Disadvantages</a:t>
            </a:r>
            <a:endParaRPr sz="1800"/>
          </a:p>
          <a:p>
            <a:pPr indent="-18415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➤"/>
            </a:pPr>
            <a:r>
              <a:rPr lang="en-US" sz="2100"/>
              <a:t>Raman Features</a:t>
            </a:r>
            <a:endParaRPr sz="2100"/>
          </a:p>
          <a:p>
            <a:pPr indent="-190500" lvl="1" marL="685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Raman Spectra of SWCNTs</a:t>
            </a:r>
            <a:endParaRPr sz="1800"/>
          </a:p>
          <a:p>
            <a:pPr indent="-18415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➤"/>
            </a:pPr>
            <a:r>
              <a:rPr lang="en-US" sz="2100"/>
              <a:t>Raman Spectra Analysis</a:t>
            </a:r>
            <a:endParaRPr sz="2100"/>
          </a:p>
          <a:p>
            <a:pPr indent="-190500" lvl="1" marL="6858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Chirality and Plots</a:t>
            </a:r>
            <a:endParaRPr sz="1800"/>
          </a:p>
          <a:p>
            <a:pPr indent="-190500" lvl="1" marL="6858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Chirality Indices</a:t>
            </a:r>
            <a:endParaRPr sz="1800"/>
          </a:p>
          <a:p>
            <a:pPr indent="-18415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➤"/>
            </a:pPr>
            <a:r>
              <a:rPr lang="en-US" sz="2100"/>
              <a:t>Applications and Summary</a:t>
            </a:r>
            <a:endParaRPr sz="2100"/>
          </a:p>
          <a:p>
            <a:pPr indent="-18415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➤"/>
            </a:pPr>
            <a:r>
              <a:rPr lang="en-US" sz="2100"/>
              <a:t>Future Research</a:t>
            </a:r>
            <a:endParaRPr sz="2100"/>
          </a:p>
          <a:p>
            <a:pPr indent="-18415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➤"/>
            </a:pPr>
            <a:r>
              <a:rPr lang="en-US" sz="2100"/>
              <a:t>References</a:t>
            </a:r>
            <a:endParaRPr sz="2100"/>
          </a:p>
          <a:p>
            <a:pPr indent="-508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Shape 44"/>
          <p:cNvSpPr txBox="1"/>
          <p:nvPr>
            <p:ph idx="12" type="sldNum"/>
          </p:nvPr>
        </p:nvSpPr>
        <p:spPr>
          <a:xfrm>
            <a:off x="11425275" y="6326050"/>
            <a:ext cx="696900" cy="531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>
                <a:solidFill>
                  <a:srgbClr val="999999"/>
                </a:solidFill>
              </a:rPr>
              <a:t>‹#›</a:t>
            </a:fld>
            <a:endParaRPr sz="18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type="title"/>
          </p:nvPr>
        </p:nvSpPr>
        <p:spPr>
          <a:xfrm>
            <a:off x="592825" y="653725"/>
            <a:ext cx="7584900" cy="5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FF"/>
                </a:solidFill>
              </a:rPr>
              <a:t>                     </a:t>
            </a:r>
            <a:r>
              <a:rPr b="1" lang="en-US" sz="4000">
                <a:solidFill>
                  <a:srgbClr val="0000FF"/>
                </a:solidFill>
              </a:rPr>
              <a:t>Carbon Nano Materials</a:t>
            </a:r>
            <a:endParaRPr b="1" sz="4000">
              <a:solidFill>
                <a:srgbClr val="0000FF"/>
              </a:solidFill>
            </a:endParaRPr>
          </a:p>
        </p:txBody>
      </p:sp>
      <p:sp>
        <p:nvSpPr>
          <p:cNvPr id="50" name="Shape 50"/>
          <p:cNvSpPr txBox="1"/>
          <p:nvPr>
            <p:ph idx="1" type="body"/>
          </p:nvPr>
        </p:nvSpPr>
        <p:spPr>
          <a:xfrm>
            <a:off x="838200" y="1164775"/>
            <a:ext cx="5432100" cy="47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</a:t>
            </a:r>
            <a:r>
              <a:rPr lang="en-US" sz="2000"/>
              <a:t>llotropes</a:t>
            </a:r>
            <a:r>
              <a:rPr lang="en-US" sz="2000"/>
              <a:t> of Carbon </a:t>
            </a:r>
            <a:endParaRPr sz="2000"/>
          </a:p>
          <a:p>
            <a:pPr indent="-3556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Pure Carbon Materials</a:t>
            </a:r>
            <a:endParaRPr sz="2000"/>
          </a:p>
          <a:p>
            <a:pPr indent="-3556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Some of them are</a:t>
            </a:r>
            <a:endParaRPr sz="2000"/>
          </a:p>
          <a:p>
            <a:pPr indent="-3556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Diamond (Not nanomaterial)</a:t>
            </a:r>
            <a:endParaRPr sz="2000"/>
          </a:p>
          <a:p>
            <a:pPr indent="-3556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Graphene</a:t>
            </a:r>
            <a:endParaRPr sz="2000"/>
          </a:p>
          <a:p>
            <a:pPr indent="-3556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Fullerene</a:t>
            </a:r>
            <a:endParaRPr sz="2000"/>
          </a:p>
          <a:p>
            <a:pPr indent="-3556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Nano tubes</a:t>
            </a:r>
            <a:endParaRPr sz="2000"/>
          </a:p>
        </p:txBody>
      </p:sp>
      <p:sp>
        <p:nvSpPr>
          <p:cNvPr id="51" name="Shape 51"/>
          <p:cNvSpPr txBox="1"/>
          <p:nvPr>
            <p:ph idx="12" type="sldNum"/>
          </p:nvPr>
        </p:nvSpPr>
        <p:spPr>
          <a:xfrm>
            <a:off x="11604175" y="6446775"/>
            <a:ext cx="4977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/>
              <a:t>‹#›</a:t>
            </a:fld>
            <a:endParaRPr sz="1800">
              <a:solidFill>
                <a:srgbClr val="000000"/>
              </a:solidFill>
            </a:endParaRPr>
          </a:p>
        </p:txBody>
      </p:sp>
      <p:pic>
        <p:nvPicPr>
          <p:cNvPr id="52" name="Shape 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6600" y="1265475"/>
            <a:ext cx="5555392" cy="5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/>
          <p:nvPr>
            <p:ph idx="1" type="body"/>
          </p:nvPr>
        </p:nvSpPr>
        <p:spPr>
          <a:xfrm>
            <a:off x="838200" y="1491350"/>
            <a:ext cx="6264600" cy="48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Honeycomb arrangement of carbon atoms</a:t>
            </a:r>
            <a:r>
              <a:rPr lang="en-US" sz="2200"/>
              <a:t> is Graphene</a:t>
            </a:r>
            <a:endParaRPr sz="2200"/>
          </a:p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Carbon Nanotube </a:t>
            </a:r>
            <a:r>
              <a:rPr lang="en-US" sz="2200"/>
              <a:t>made fro</a:t>
            </a:r>
            <a:r>
              <a:rPr lang="en-US" sz="2200"/>
              <a:t>m rolled Graphene sheet</a:t>
            </a:r>
            <a:endParaRPr sz="2200"/>
          </a:p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CNTs have high Specific strength</a:t>
            </a:r>
            <a:endParaRPr sz="2200"/>
          </a:p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Have high tensile strength</a:t>
            </a:r>
            <a:endParaRPr sz="2200"/>
          </a:p>
          <a:p>
            <a:pPr indent="0" lvl="0" mar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Shape 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Shape 59"/>
          <p:cNvSpPr txBox="1"/>
          <p:nvPr>
            <p:ph idx="12" type="sldNum"/>
          </p:nvPr>
        </p:nvSpPr>
        <p:spPr>
          <a:xfrm>
            <a:off x="11604175" y="6446775"/>
            <a:ext cx="4977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/>
              <a:t>‹#›</a:t>
            </a:fld>
            <a:endParaRPr sz="1800">
              <a:solidFill>
                <a:srgbClr val="000000"/>
              </a:solidFill>
            </a:endParaRPr>
          </a:p>
        </p:txBody>
      </p:sp>
      <p:pic>
        <p:nvPicPr>
          <p:cNvPr id="60" name="Shape 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2675" y="638600"/>
            <a:ext cx="3819200" cy="254235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Shape 61"/>
          <p:cNvSpPr txBox="1"/>
          <p:nvPr>
            <p:ph type="title"/>
          </p:nvPr>
        </p:nvSpPr>
        <p:spPr>
          <a:xfrm>
            <a:off x="592825" y="653725"/>
            <a:ext cx="7584900" cy="5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9900FF"/>
                </a:solidFill>
              </a:rPr>
              <a:t>                     Carbon </a:t>
            </a:r>
            <a:r>
              <a:rPr b="1" lang="en-US" sz="4000">
                <a:solidFill>
                  <a:srgbClr val="9900FF"/>
                </a:solidFill>
              </a:rPr>
              <a:t>Nanotubes</a:t>
            </a:r>
            <a:endParaRPr b="1" sz="4000">
              <a:solidFill>
                <a:srgbClr val="9900FF"/>
              </a:solidFill>
            </a:endParaRPr>
          </a:p>
        </p:txBody>
      </p:sp>
      <p:sp>
        <p:nvSpPr>
          <p:cNvPr id="62" name="Shape 62"/>
          <p:cNvSpPr txBox="1"/>
          <p:nvPr/>
        </p:nvSpPr>
        <p:spPr>
          <a:xfrm>
            <a:off x="8177725" y="3164975"/>
            <a:ext cx="392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hlinkClick r:id="rId4"/>
              </a:rPr>
              <a:t>https://spinoff.com/uploads/images/5a61bff027760</a:t>
            </a:r>
            <a:endParaRPr sz="1300"/>
          </a:p>
        </p:txBody>
      </p:sp>
      <p:pic>
        <p:nvPicPr>
          <p:cNvPr id="63" name="Shape 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1575" y="3524250"/>
            <a:ext cx="4190700" cy="276585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Shape 64"/>
          <p:cNvSpPr txBox="1"/>
          <p:nvPr/>
        </p:nvSpPr>
        <p:spPr>
          <a:xfrm>
            <a:off x="3233050" y="6446775"/>
            <a:ext cx="4190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hlinkClick r:id="rId6"/>
              </a:rPr>
              <a:t>http://jnm.snmjournals.org/content/48/7/1039/F1.large</a:t>
            </a:r>
            <a:endParaRPr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>
            <p:ph type="title"/>
          </p:nvPr>
        </p:nvSpPr>
        <p:spPr>
          <a:xfrm>
            <a:off x="838200" y="722450"/>
            <a:ext cx="105156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FF"/>
                </a:solidFill>
              </a:rPr>
              <a:t>Raman Spectroscopy</a:t>
            </a:r>
            <a:endParaRPr b="1" sz="4000">
              <a:solidFill>
                <a:srgbClr val="0000FF"/>
              </a:solidFill>
            </a:endParaRPr>
          </a:p>
        </p:txBody>
      </p:sp>
      <p:sp>
        <p:nvSpPr>
          <p:cNvPr id="70" name="Shape 70"/>
          <p:cNvSpPr txBox="1"/>
          <p:nvPr>
            <p:ph idx="1" type="body"/>
          </p:nvPr>
        </p:nvSpPr>
        <p:spPr>
          <a:xfrm>
            <a:off x="838200" y="1265500"/>
            <a:ext cx="10515600" cy="12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Technique used to observe rotational, vibrational and other low frequency modes in a system.</a:t>
            </a:r>
            <a:endParaRPr sz="2200"/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71" name="Shape 71"/>
          <p:cNvSpPr txBox="1"/>
          <p:nvPr>
            <p:ph idx="12" type="sldNum"/>
          </p:nvPr>
        </p:nvSpPr>
        <p:spPr>
          <a:xfrm>
            <a:off x="11653375" y="6361850"/>
            <a:ext cx="467700" cy="549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  <p:sp>
        <p:nvSpPr>
          <p:cNvPr id="72" name="Shape 72"/>
          <p:cNvSpPr txBox="1"/>
          <p:nvPr/>
        </p:nvSpPr>
        <p:spPr>
          <a:xfrm>
            <a:off x="838200" y="2175375"/>
            <a:ext cx="5371200" cy="25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Well suited method for the Morphology characterization of Carbon NanoTubes.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Highly sensitive to small changes in material structure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Can Distinguish Carbon Allotropes.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Shape 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4200" y="1828800"/>
            <a:ext cx="5513050" cy="424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Shape 74"/>
          <p:cNvSpPr txBox="1"/>
          <p:nvPr/>
        </p:nvSpPr>
        <p:spPr>
          <a:xfrm>
            <a:off x="5650300" y="5894725"/>
            <a:ext cx="50895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“Raman Spectroscopy of graphene and carbon nanotubes” et al. R Saito, M. Hofmann, G. Dresselhaus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>
            <a:off x="838200" y="681225"/>
            <a:ext cx="10515600" cy="56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9900FF"/>
                </a:solidFill>
              </a:rPr>
              <a:t>Advantages</a:t>
            </a:r>
            <a:endParaRPr b="1" sz="4000">
              <a:solidFill>
                <a:srgbClr val="9900FF"/>
              </a:solidFill>
            </a:endParaRPr>
          </a:p>
        </p:txBody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x="838200" y="1166300"/>
            <a:ext cx="10515600" cy="25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Non-contact and Non-destructive analysis</a:t>
            </a:r>
            <a:endParaRPr sz="2200"/>
          </a:p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Sub-Micron to nano scale spatial resolution with chemical compositions, structure of materials</a:t>
            </a:r>
            <a:endParaRPr sz="2200"/>
          </a:p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Sample can be of any state like gas, liquid, solution, solid, crystal, emulsion (organic or Inorganic)</a:t>
            </a:r>
            <a:endParaRPr sz="2200"/>
          </a:p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Sample preparation not needed and can be measured through glass window and in water.</a:t>
            </a:r>
            <a:endParaRPr sz="2200"/>
          </a:p>
          <a:p>
            <a:pPr indent="0" lvl="0" mar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81" name="Shape 81"/>
          <p:cNvSpPr txBox="1"/>
          <p:nvPr>
            <p:ph idx="12" type="sldNum"/>
          </p:nvPr>
        </p:nvSpPr>
        <p:spPr>
          <a:xfrm>
            <a:off x="10754275" y="6392175"/>
            <a:ext cx="1352700" cy="474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  <p:sp>
        <p:nvSpPr>
          <p:cNvPr id="82" name="Shape 82"/>
          <p:cNvSpPr txBox="1"/>
          <p:nvPr>
            <p:ph type="title"/>
          </p:nvPr>
        </p:nvSpPr>
        <p:spPr>
          <a:xfrm>
            <a:off x="838200" y="4206725"/>
            <a:ext cx="10515600" cy="56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9900FF"/>
                </a:solidFill>
              </a:rPr>
              <a:t>Disadvantages</a:t>
            </a:r>
            <a:endParaRPr b="1" sz="4000">
              <a:solidFill>
                <a:srgbClr val="9900FF"/>
              </a:solidFill>
            </a:endParaRPr>
          </a:p>
        </p:txBody>
      </p:sp>
      <p:sp>
        <p:nvSpPr>
          <p:cNvPr id="83" name="Shape 83"/>
          <p:cNvSpPr txBox="1"/>
          <p:nvPr>
            <p:ph idx="1" type="body"/>
          </p:nvPr>
        </p:nvSpPr>
        <p:spPr>
          <a:xfrm>
            <a:off x="879575" y="4790600"/>
            <a:ext cx="10515600" cy="11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Heating Through </a:t>
            </a:r>
            <a:r>
              <a:rPr lang="en-US" sz="2200"/>
              <a:t>intense</a:t>
            </a:r>
            <a:r>
              <a:rPr lang="en-US" sz="2200"/>
              <a:t> laser radiation can destroy samples.</a:t>
            </a:r>
            <a:endParaRPr sz="2200"/>
          </a:p>
          <a:p>
            <a:pPr indent="0" lvl="0" mar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Shape 89"/>
          <p:cNvSpPr txBox="1"/>
          <p:nvPr>
            <p:ph type="title"/>
          </p:nvPr>
        </p:nvSpPr>
        <p:spPr>
          <a:xfrm>
            <a:off x="838200" y="440875"/>
            <a:ext cx="10515600" cy="7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SWCNTs </a:t>
            </a:r>
            <a:r>
              <a:rPr b="1" lang="en-US">
                <a:solidFill>
                  <a:srgbClr val="0000FF"/>
                </a:solidFill>
              </a:rPr>
              <a:t>Raman Spectra</a:t>
            </a:r>
            <a:endParaRPr b="1">
              <a:solidFill>
                <a:srgbClr val="0000FF"/>
              </a:solidFill>
            </a:endParaRPr>
          </a:p>
        </p:txBody>
      </p:sp>
      <p:pic>
        <p:nvPicPr>
          <p:cNvPr id="90" name="Shape 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877" y="1233775"/>
            <a:ext cx="9944745" cy="51225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Shape 91"/>
          <p:cNvSpPr txBox="1"/>
          <p:nvPr>
            <p:ph idx="12" type="sldNum"/>
          </p:nvPr>
        </p:nvSpPr>
        <p:spPr>
          <a:xfrm>
            <a:off x="9389050" y="64802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  <p:sp>
        <p:nvSpPr>
          <p:cNvPr id="92" name="Shape 92"/>
          <p:cNvSpPr txBox="1"/>
          <p:nvPr/>
        </p:nvSpPr>
        <p:spPr>
          <a:xfrm>
            <a:off x="3350175" y="6080350"/>
            <a:ext cx="61353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Raman spectrum of SWCNTs with prominent bands labeled</a:t>
            </a:r>
            <a:endParaRPr/>
          </a:p>
        </p:txBody>
      </p:sp>
      <p:sp>
        <p:nvSpPr>
          <p:cNvPr id="93" name="Shape 93"/>
          <p:cNvSpPr txBox="1"/>
          <p:nvPr/>
        </p:nvSpPr>
        <p:spPr>
          <a:xfrm>
            <a:off x="402575" y="6400900"/>
            <a:ext cx="102117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</a:t>
            </a:r>
            <a:r>
              <a:rPr lang="en-US"/>
              <a:t>Characterizing Carbon Materials with Raman Spectroscopy”,et al.Joe Hodkiewicz, Thermo Fisher Scientific, Madison, WI, USA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/>
          <p:nvPr>
            <p:ph type="title"/>
          </p:nvPr>
        </p:nvSpPr>
        <p:spPr>
          <a:xfrm>
            <a:off x="838200" y="280300"/>
            <a:ext cx="10515600" cy="132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Features of Raman Spectra</a:t>
            </a:r>
            <a:r>
              <a:rPr b="1" lang="en-US">
                <a:solidFill>
                  <a:srgbClr val="0000FF"/>
                </a:solidFill>
              </a:rPr>
              <a:t> in SWCNTs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838200" y="1167500"/>
            <a:ext cx="10515600" cy="21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Radial breathing mode (RBM) (</a:t>
            </a:r>
            <a:r>
              <a:rPr lang="en-US" sz="1800"/>
              <a:t>Low frequency range b/w 120 and 350 cm</a:t>
            </a:r>
            <a:r>
              <a:rPr baseline="30000" lang="en-US" sz="1800"/>
              <a:t>-1</a:t>
            </a:r>
            <a:r>
              <a:rPr lang="en-US" sz="2200"/>
              <a:t>)</a:t>
            </a:r>
            <a:endParaRPr sz="2200"/>
          </a:p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G-band (</a:t>
            </a:r>
            <a:r>
              <a:rPr lang="en-US" sz="1800"/>
              <a:t>High frequency range</a:t>
            </a:r>
            <a:r>
              <a:rPr lang="en-US" sz="2200"/>
              <a:t>), </a:t>
            </a:r>
            <a:endParaRPr sz="2200"/>
          </a:p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Other weak features: Induced </a:t>
            </a:r>
            <a:r>
              <a:rPr lang="en-US" sz="2200"/>
              <a:t>D band (</a:t>
            </a:r>
            <a:r>
              <a:rPr lang="en-US" sz="1800"/>
              <a:t>Hybridized vibrational mode, Defects of carbon atoms at open ends of nanotube</a:t>
            </a:r>
            <a:r>
              <a:rPr lang="en-US" sz="2200"/>
              <a:t>) and iTOLA band (combination of optical and acoustic modes)</a:t>
            </a:r>
            <a:endParaRPr sz="2200"/>
          </a:p>
        </p:txBody>
      </p:sp>
      <p:pic>
        <p:nvPicPr>
          <p:cNvPr id="100" name="Shape 100"/>
          <p:cNvPicPr preferRelativeResize="0"/>
          <p:nvPr/>
        </p:nvPicPr>
        <p:blipFill rotWithShape="1">
          <a:blip r:embed="rId3">
            <a:alphaModFix/>
          </a:blip>
          <a:srcRect b="5240" l="46362" r="22034" t="62609"/>
          <a:stretch/>
        </p:blipFill>
        <p:spPr>
          <a:xfrm>
            <a:off x="3508075" y="3115035"/>
            <a:ext cx="5880975" cy="336524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Shape 101"/>
          <p:cNvSpPr txBox="1"/>
          <p:nvPr>
            <p:ph idx="12" type="sldNum"/>
          </p:nvPr>
        </p:nvSpPr>
        <p:spPr>
          <a:xfrm>
            <a:off x="9389050" y="64802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 result for radial breathing mode gif" id="107" name="Shape 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6175" y="1791400"/>
            <a:ext cx="6275826" cy="342754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Shape 108"/>
          <p:cNvSpPr txBox="1"/>
          <p:nvPr>
            <p:ph idx="12" type="sldNum"/>
          </p:nvPr>
        </p:nvSpPr>
        <p:spPr>
          <a:xfrm>
            <a:off x="11425275" y="6326050"/>
            <a:ext cx="696900" cy="531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999999"/>
                </a:solidFill>
              </a:rPr>
              <a:t>‹#›</a:t>
            </a:fld>
            <a:endParaRPr sz="1800">
              <a:solidFill>
                <a:srgbClr val="999999"/>
              </a:solidFill>
            </a:endParaRPr>
          </a:p>
        </p:txBody>
      </p:sp>
      <p:pic>
        <p:nvPicPr>
          <p:cNvPr descr="Image result for swcnt raman gif" id="109" name="Shape 109"/>
          <p:cNvPicPr preferRelativeResize="0"/>
          <p:nvPr/>
        </p:nvPicPr>
        <p:blipFill rotWithShape="1">
          <a:blip r:embed="rId4">
            <a:alphaModFix/>
          </a:blip>
          <a:srcRect b="69774" l="18986" r="50790" t="2827"/>
          <a:stretch/>
        </p:blipFill>
        <p:spPr>
          <a:xfrm>
            <a:off x="589450" y="1667775"/>
            <a:ext cx="5326734" cy="35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Shape 110"/>
          <p:cNvSpPr txBox="1"/>
          <p:nvPr/>
        </p:nvSpPr>
        <p:spPr>
          <a:xfrm>
            <a:off x="1107050" y="5779675"/>
            <a:ext cx="353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G-mode vibrations in SWCNTs</a:t>
            </a:r>
            <a:endParaRPr/>
          </a:p>
        </p:txBody>
      </p:sp>
      <p:sp>
        <p:nvSpPr>
          <p:cNvPr id="111" name="Shape 111"/>
          <p:cNvSpPr txBox="1"/>
          <p:nvPr/>
        </p:nvSpPr>
        <p:spPr>
          <a:xfrm>
            <a:off x="7131175" y="5794075"/>
            <a:ext cx="33786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Radial breathing mode in SWCNTs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Raman Spectra Analysis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17" name="Shape 117"/>
          <p:cNvSpPr txBox="1"/>
          <p:nvPr>
            <p:ph idx="1" type="body"/>
          </p:nvPr>
        </p:nvSpPr>
        <p:spPr>
          <a:xfrm>
            <a:off x="838200" y="1838575"/>
            <a:ext cx="10515600" cy="28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Obtain diameter of SWCNT from RBM (</a:t>
            </a:r>
            <a:r>
              <a:rPr lang="en-US" sz="1800">
                <a:solidFill>
                  <a:srgbClr val="1C1D1E"/>
                </a:solidFill>
              </a:rPr>
              <a:t>ω</a:t>
            </a:r>
            <a:r>
              <a:rPr baseline="-25000" lang="en-US" sz="1800">
                <a:solidFill>
                  <a:srgbClr val="1C1D1E"/>
                </a:solidFill>
              </a:rPr>
              <a:t>RBM</a:t>
            </a:r>
            <a:r>
              <a:rPr lang="en-US" sz="1800">
                <a:solidFill>
                  <a:srgbClr val="1C1D1E"/>
                </a:solidFill>
              </a:rPr>
              <a:t> is inversely proportional to the diameter of a SWCNT</a:t>
            </a:r>
            <a:r>
              <a:rPr lang="en-US" sz="2200">
                <a:solidFill>
                  <a:srgbClr val="1C1D1E"/>
                </a:solidFill>
              </a:rPr>
              <a:t>)</a:t>
            </a:r>
            <a:endParaRPr sz="2200">
              <a:solidFill>
                <a:srgbClr val="1C1D1E"/>
              </a:solidFill>
            </a:endParaRPr>
          </a:p>
          <a:p>
            <a:pPr indent="-3683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D1E"/>
              </a:buClr>
              <a:buSzPts val="2200"/>
              <a:buChar char="-"/>
            </a:pPr>
            <a:r>
              <a:rPr lang="en-US" sz="2200">
                <a:solidFill>
                  <a:srgbClr val="1C1D1E"/>
                </a:solidFill>
              </a:rPr>
              <a:t>Length of SWCNT is calculated from the intensity of G band</a:t>
            </a:r>
            <a:endParaRPr sz="2200">
              <a:solidFill>
                <a:srgbClr val="1C1D1E"/>
              </a:solidFill>
            </a:endParaRPr>
          </a:p>
          <a:p>
            <a:pPr indent="-3683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Distinguish between metallic and semiconductor SWCNTs from G-band </a:t>
            </a:r>
            <a:endParaRPr sz="2200"/>
          </a:p>
          <a:p>
            <a:pPr indent="-3683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US" sz="2200"/>
              <a:t>Obtain chirality index of the SWCNT</a:t>
            </a:r>
            <a:endParaRPr sz="2200"/>
          </a:p>
        </p:txBody>
      </p:sp>
      <p:sp>
        <p:nvSpPr>
          <p:cNvPr id="118" name="Shape 118"/>
          <p:cNvSpPr txBox="1"/>
          <p:nvPr>
            <p:ph idx="12" type="sldNum"/>
          </p:nvPr>
        </p:nvSpPr>
        <p:spPr>
          <a:xfrm>
            <a:off x="9369750" y="64325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/>
          <p:nvPr>
            <p:ph idx="12" type="sldNum"/>
          </p:nvPr>
        </p:nvSpPr>
        <p:spPr>
          <a:xfrm>
            <a:off x="9409975" y="638782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  <p:pic>
        <p:nvPicPr>
          <p:cNvPr id="124" name="Shape 124"/>
          <p:cNvPicPr preferRelativeResize="0"/>
          <p:nvPr/>
        </p:nvPicPr>
        <p:blipFill rotWithShape="1">
          <a:blip r:embed="rId3">
            <a:alphaModFix/>
          </a:blip>
          <a:srcRect b="29559" l="59153" r="13445" t="40906"/>
          <a:stretch/>
        </p:blipFill>
        <p:spPr>
          <a:xfrm>
            <a:off x="3191775" y="948900"/>
            <a:ext cx="7894702" cy="51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Shape 125"/>
          <p:cNvSpPr txBox="1"/>
          <p:nvPr/>
        </p:nvSpPr>
        <p:spPr>
          <a:xfrm>
            <a:off x="3924975" y="6244275"/>
            <a:ext cx="50034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M.S. Dresselhaus et al. / Physics Reports 409 (2005) 47–99</a:t>
            </a:r>
            <a:endParaRPr/>
          </a:p>
        </p:txBody>
      </p:sp>
      <p:sp>
        <p:nvSpPr>
          <p:cNvPr id="126" name="Shape 126"/>
          <p:cNvSpPr txBox="1"/>
          <p:nvPr/>
        </p:nvSpPr>
        <p:spPr>
          <a:xfrm>
            <a:off x="3278050" y="5693425"/>
            <a:ext cx="402600" cy="3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1552750" y="3246450"/>
            <a:ext cx="1567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Raman intensity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>
            <p:ph type="title"/>
          </p:nvPr>
        </p:nvSpPr>
        <p:spPr>
          <a:xfrm>
            <a:off x="838200" y="441325"/>
            <a:ext cx="10515600" cy="94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C</a:t>
            </a:r>
            <a:r>
              <a:rPr b="1" lang="en-US">
                <a:solidFill>
                  <a:srgbClr val="0000FF"/>
                </a:solidFill>
              </a:rPr>
              <a:t>hirality of SWCNTs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33" name="Shape 133"/>
          <p:cNvSpPr txBox="1"/>
          <p:nvPr>
            <p:ph idx="1" type="body"/>
          </p:nvPr>
        </p:nvSpPr>
        <p:spPr>
          <a:xfrm>
            <a:off x="838200" y="1654625"/>
            <a:ext cx="5153100" cy="47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Vector connecting two hexagon centers</a:t>
            </a:r>
            <a:endParaRPr sz="2200"/>
          </a:p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Structure of SWCNTs are determined by Chirality</a:t>
            </a:r>
            <a:endParaRPr sz="2200"/>
          </a:p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Interesting facts</a:t>
            </a:r>
            <a:endParaRPr sz="2200"/>
          </a:p>
          <a:p>
            <a: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Depending on chirality electronic structure of SWCNTs becomes semiconducting or Metallic.</a:t>
            </a:r>
            <a:endParaRPr sz="1800"/>
          </a:p>
          <a:p>
            <a: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Band Gap energy also depends on Chirality</a:t>
            </a:r>
            <a:endParaRPr sz="1800"/>
          </a:p>
        </p:txBody>
      </p:sp>
      <p:sp>
        <p:nvSpPr>
          <p:cNvPr id="134" name="Shape 134"/>
          <p:cNvSpPr txBox="1"/>
          <p:nvPr>
            <p:ph idx="12" type="sldNum"/>
          </p:nvPr>
        </p:nvSpPr>
        <p:spPr>
          <a:xfrm>
            <a:off x="9431725" y="6320175"/>
            <a:ext cx="2743200" cy="567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  <p:pic>
        <p:nvPicPr>
          <p:cNvPr id="135" name="Shape 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1300" y="1578425"/>
            <a:ext cx="6183625" cy="408047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Shape 136"/>
          <p:cNvSpPr txBox="1"/>
          <p:nvPr>
            <p:ph type="title"/>
          </p:nvPr>
        </p:nvSpPr>
        <p:spPr>
          <a:xfrm>
            <a:off x="6190213" y="5840175"/>
            <a:ext cx="5785800" cy="31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</a:rPr>
              <a:t>http://katogroup.riken.jp/en/nanotubechirality.html</a:t>
            </a:r>
            <a:endParaRPr b="1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/>
          <p:nvPr>
            <p:ph type="title"/>
          </p:nvPr>
        </p:nvSpPr>
        <p:spPr>
          <a:xfrm>
            <a:off x="959100" y="286275"/>
            <a:ext cx="10515600" cy="132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Kataura</a:t>
            </a:r>
            <a:r>
              <a:rPr b="1" lang="en-US">
                <a:solidFill>
                  <a:srgbClr val="0000FF"/>
                </a:solidFill>
              </a:rPr>
              <a:t> </a:t>
            </a:r>
            <a:r>
              <a:rPr b="1" lang="en-US">
                <a:solidFill>
                  <a:srgbClr val="0000FF"/>
                </a:solidFill>
              </a:rPr>
              <a:t>P</a:t>
            </a:r>
            <a:r>
              <a:rPr b="1" lang="en-US">
                <a:solidFill>
                  <a:srgbClr val="0000FF"/>
                </a:solidFill>
              </a:rPr>
              <a:t>lots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42" name="Shape 142"/>
          <p:cNvSpPr txBox="1"/>
          <p:nvPr>
            <p:ph idx="12" type="sldNum"/>
          </p:nvPr>
        </p:nvSpPr>
        <p:spPr>
          <a:xfrm>
            <a:off x="9447300" y="638782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  <p:sp>
        <p:nvSpPr>
          <p:cNvPr id="143" name="Shape 143"/>
          <p:cNvSpPr txBox="1"/>
          <p:nvPr/>
        </p:nvSpPr>
        <p:spPr>
          <a:xfrm>
            <a:off x="1621300" y="6311625"/>
            <a:ext cx="851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M. Cardona, R. Merlin (Eds.): Light Scattering in Solid IX, Topics Appl. Physics 108, 115–232 (2007)</a:t>
            </a:r>
            <a:endParaRPr/>
          </a:p>
        </p:txBody>
      </p:sp>
      <p:pic>
        <p:nvPicPr>
          <p:cNvPr id="144" name="Shape 144"/>
          <p:cNvPicPr preferRelativeResize="0"/>
          <p:nvPr/>
        </p:nvPicPr>
        <p:blipFill rotWithShape="1">
          <a:blip r:embed="rId3">
            <a:alphaModFix/>
          </a:blip>
          <a:srcRect b="42447" l="48137" r="26640" t="35132"/>
          <a:stretch/>
        </p:blipFill>
        <p:spPr>
          <a:xfrm>
            <a:off x="959100" y="2377975"/>
            <a:ext cx="5326648" cy="266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Shape 145"/>
          <p:cNvSpPr txBox="1"/>
          <p:nvPr/>
        </p:nvSpPr>
        <p:spPr>
          <a:xfrm>
            <a:off x="1338475" y="2152600"/>
            <a:ext cx="510600" cy="45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Shape 146"/>
          <p:cNvPicPr preferRelativeResize="0"/>
          <p:nvPr/>
        </p:nvPicPr>
        <p:blipFill rotWithShape="1">
          <a:blip r:embed="rId4">
            <a:alphaModFix/>
          </a:blip>
          <a:srcRect b="11836" l="48748" r="21703" t="41325"/>
          <a:stretch/>
        </p:blipFill>
        <p:spPr>
          <a:xfrm>
            <a:off x="6056575" y="1233675"/>
            <a:ext cx="5202624" cy="463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/>
          <p:nvPr>
            <p:ph type="title"/>
          </p:nvPr>
        </p:nvSpPr>
        <p:spPr>
          <a:xfrm>
            <a:off x="838200" y="393875"/>
            <a:ext cx="10515600" cy="132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Chirality Indices values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52" name="Shape 152"/>
          <p:cNvSpPr txBox="1"/>
          <p:nvPr>
            <p:ph idx="12" type="sldNum"/>
          </p:nvPr>
        </p:nvSpPr>
        <p:spPr>
          <a:xfrm>
            <a:off x="93220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  <p:pic>
        <p:nvPicPr>
          <p:cNvPr id="153" name="Shape 153"/>
          <p:cNvPicPr preferRelativeResize="0"/>
          <p:nvPr/>
        </p:nvPicPr>
        <p:blipFill rotWithShape="1">
          <a:blip r:embed="rId3">
            <a:alphaModFix/>
          </a:blip>
          <a:srcRect b="0" l="0" r="43665" t="10801"/>
          <a:stretch/>
        </p:blipFill>
        <p:spPr>
          <a:xfrm>
            <a:off x="2686425" y="1610275"/>
            <a:ext cx="6819149" cy="474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Shape 154"/>
          <p:cNvSpPr txBox="1"/>
          <p:nvPr>
            <p:ph type="title"/>
          </p:nvPr>
        </p:nvSpPr>
        <p:spPr>
          <a:xfrm>
            <a:off x="3271200" y="6403000"/>
            <a:ext cx="5649600" cy="27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</a:rPr>
              <a:t>http://www.scielo.br/img/fbpe/mr/v6n1/1a03t1.gif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 txBox="1"/>
          <p:nvPr>
            <p:ph type="title"/>
          </p:nvPr>
        </p:nvSpPr>
        <p:spPr>
          <a:xfrm>
            <a:off x="838200" y="288925"/>
            <a:ext cx="10515600" cy="132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Applications of CNTs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60" name="Shape 160"/>
          <p:cNvSpPr txBox="1"/>
          <p:nvPr>
            <p:ph idx="1" type="body"/>
          </p:nvPr>
        </p:nvSpPr>
        <p:spPr>
          <a:xfrm>
            <a:off x="838200" y="1123675"/>
            <a:ext cx="10515600" cy="53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Composite materials</a:t>
            </a:r>
            <a:endParaRPr/>
          </a:p>
          <a:p>
            <a:pPr indent="-342900" lvl="0" marL="457200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Textiles,Alloys,Coatings and Films</a:t>
            </a:r>
            <a:endParaRPr sz="1800"/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Electronics</a:t>
            </a:r>
            <a:endParaRPr/>
          </a:p>
          <a:p>
            <a:pPr indent="-342900" lvl="0" marL="457200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Transistors, Solar cells, Cables, wires</a:t>
            </a:r>
            <a:endParaRPr sz="1800"/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Energy Storage</a:t>
            </a:r>
            <a:endParaRPr/>
          </a:p>
          <a:p>
            <a:pPr indent="-342900" lvl="0" marL="457200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Lithium Batteries, </a:t>
            </a:r>
            <a:r>
              <a:rPr lang="en-US" sz="1800"/>
              <a:t>Supercapacitors</a:t>
            </a:r>
            <a:endParaRPr sz="1800"/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Bio Medical</a:t>
            </a:r>
            <a:endParaRPr/>
          </a:p>
          <a:p>
            <a:pPr indent="-342900" lvl="0" marL="457200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Biodegradable nano components for tissue repair, health monitoring.</a:t>
            </a:r>
            <a:endParaRPr sz="1800"/>
          </a:p>
          <a:p>
            <a:pPr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Environmental</a:t>
            </a:r>
            <a:endParaRPr/>
          </a:p>
          <a:p>
            <a:pPr indent="-342900" lvl="0" marL="457200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Water Treatment, Nanotube based sensors for pollutant detection</a:t>
            </a:r>
            <a:endParaRPr sz="1800"/>
          </a:p>
        </p:txBody>
      </p:sp>
      <p:sp>
        <p:nvSpPr>
          <p:cNvPr id="161" name="Shape 161"/>
          <p:cNvSpPr txBox="1"/>
          <p:nvPr>
            <p:ph idx="12" type="sldNum"/>
          </p:nvPr>
        </p:nvSpPr>
        <p:spPr>
          <a:xfrm>
            <a:off x="9398200" y="643760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Summary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67" name="Shape 16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Instruments are fast and provide flexibility in samples</a:t>
            </a:r>
            <a:endParaRPr/>
          </a:p>
          <a:p>
            <a: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E</a:t>
            </a:r>
            <a:r>
              <a:rPr lang="en-US"/>
              <a:t>nergy of laser excitation is also very important due to the results obtained, as shown in the Kataura plot.</a:t>
            </a:r>
            <a:endParaRPr/>
          </a:p>
          <a:p>
            <a: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Using Raman spectra, we can obtain structural morphology of SWCNT (chirality index, diameter and so on)</a:t>
            </a:r>
            <a:endParaRPr/>
          </a:p>
          <a:p>
            <a: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CNTs have huge potential for the future and thus their characterization is crucial</a:t>
            </a:r>
            <a:endParaRPr/>
          </a:p>
        </p:txBody>
      </p:sp>
      <p:sp>
        <p:nvSpPr>
          <p:cNvPr id="168" name="Shape 168"/>
          <p:cNvSpPr txBox="1"/>
          <p:nvPr>
            <p:ph idx="12" type="sldNum"/>
          </p:nvPr>
        </p:nvSpPr>
        <p:spPr>
          <a:xfrm>
            <a:off x="9336225" y="631162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Future Research Opportunities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74" name="Shape 174"/>
          <p:cNvSpPr txBox="1"/>
          <p:nvPr>
            <p:ph idx="1" type="body"/>
          </p:nvPr>
        </p:nvSpPr>
        <p:spPr>
          <a:xfrm>
            <a:off x="838200" y="1407250"/>
            <a:ext cx="11049000" cy="49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Scope for controlling the chirality(ie, metallic and semiconducting nature) which has an impact on the structure on CNTs.</a:t>
            </a:r>
            <a:endParaRPr sz="2200"/>
          </a:p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Can use Raman Spectroscopy as a tool for exploring electronic structure of filled tubes.</a:t>
            </a:r>
            <a:endParaRPr sz="2200"/>
          </a:p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There is also scope for CNTs in the I/R optics industry since they have been shown to absorb Infrared light.</a:t>
            </a:r>
            <a:endParaRPr sz="2200"/>
          </a:p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There are some research in progress about bonding a single strand of DNA to the nanotube and then inserting it into a cell.</a:t>
            </a:r>
            <a:endParaRPr sz="2200"/>
          </a:p>
          <a:p>
            <a: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Research is in progress to develop highly sensitive sensor technology and in Energy storage </a:t>
            </a:r>
            <a:endParaRPr sz="2200"/>
          </a:p>
          <a:p>
            <a:pPr indent="0" lvl="0" mar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5" name="Shape 175"/>
          <p:cNvSpPr txBox="1"/>
          <p:nvPr>
            <p:ph idx="12" type="sldNum"/>
          </p:nvPr>
        </p:nvSpPr>
        <p:spPr>
          <a:xfrm>
            <a:off x="9389025" y="64467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References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81" name="Shape 181"/>
          <p:cNvSpPr txBox="1"/>
          <p:nvPr>
            <p:ph idx="1" type="body"/>
          </p:nvPr>
        </p:nvSpPr>
        <p:spPr>
          <a:xfrm>
            <a:off x="838200" y="1289950"/>
            <a:ext cx="10902000" cy="49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[1] 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Thomsen, Christian. “Raman Scattering in Carbon Nanotubes.” </a:t>
            </a:r>
            <a:r>
              <a:rPr i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Nanotubes and Nanowires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2003, doi:10.1117/12.507435.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 Mic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[5] “7 Raman Spectra of Graphene and Single-Walled Carbon Nanotubes (SWCNTs).” </a:t>
            </a:r>
            <a:r>
              <a:rPr i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Introduction to Graphene and Carbon Nanotubes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2016, pp. 99–126., doi:10.1201/9781315368191-8.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[3]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hel, T, et al. “About the Indexing of the Structure of Single-Walled Carbon Nanotubes from Resonant Raman Scattering.” </a:t>
            </a:r>
            <a:r>
              <a:rPr i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Advances in Natural Sciences: Nanoscience and Nanotechnology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vol. 1, no. 4, Dec. 2011, p. 045007., doi:10.1088/2043-6262/1/4/045007.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[4] Dresselhaus, M.s., et al. “Raman Spectroscopy of Carbon Nanotubes.” </a:t>
            </a:r>
            <a:r>
              <a:rPr i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Physics Reports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vol. 409, no. 2, 2005, pp. 47–99., doi:10.1016/j.physrep.2004.10.006.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[5] Wang, Yan, et al. “Raman Spectroscopy of Carbon Materials: Structural Basis of Observed Spectra.” </a:t>
            </a:r>
            <a:r>
              <a:rPr i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Chemistry of Materials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vol. 2, no. 5, 1990, pp. 557–563., doi:10.1021/cm00011a018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[6] Wepasnick, Kevin A., et al. “Chemical and Structural Characterization of Carbon Nanotube      Surfaces.” </a:t>
            </a:r>
            <a:r>
              <a:rPr i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Analytical and Bioanalytical Chemistry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vol. 396, no. 3, 2010, pp. 1003–1014., doi:10.1007/s00216-009-3332-5.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[7] Pool, Albert J., et al. “Structural Characterization of Carbon Nanotubes via the Vibrational Density of States.” </a:t>
            </a:r>
            <a:r>
              <a:rPr i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Carbon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vol. 118, 2017, pp. 58–65., doi:10.1016/j.carbon.2017.03.030.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[8] Wepasnick, Kevin A., et al. “Chemical and Structural Characterization of Carbon Nanotube Surfaces.” </a:t>
            </a:r>
            <a:r>
              <a:rPr i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Analytical and Bioanalytical Chemistry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vol. 396, no. 3, June 2010, pp. 1003–1014., doi:10.1007/s00216-009-3332-5.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[9] Medjo, Rolant Eba. </a:t>
            </a:r>
            <a:r>
              <a:rPr i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Characterization of Carbon Nanotubes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INTECH Open Access Publisher, 2013.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82" name="Shape 18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Shape 183"/>
          <p:cNvSpPr txBox="1"/>
          <p:nvPr>
            <p:ph idx="12" type="sldNum"/>
          </p:nvPr>
        </p:nvSpPr>
        <p:spPr>
          <a:xfrm>
            <a:off x="9389025" y="6446775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/>
          <p:nvPr>
            <p:ph idx="1" type="body"/>
          </p:nvPr>
        </p:nvSpPr>
        <p:spPr>
          <a:xfrm>
            <a:off x="838200" y="827175"/>
            <a:ext cx="10515600" cy="17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90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9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9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9000"/>
          </a:p>
        </p:txBody>
      </p:sp>
      <p:sp>
        <p:nvSpPr>
          <p:cNvPr id="189" name="Shape 189"/>
          <p:cNvSpPr txBox="1"/>
          <p:nvPr>
            <p:ph idx="12" type="sldNum"/>
          </p:nvPr>
        </p:nvSpPr>
        <p:spPr>
          <a:xfrm>
            <a:off x="9414300" y="643270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  <p:pic>
        <p:nvPicPr>
          <p:cNvPr descr="See the source image" id="190" name="Shape 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775" y="2497150"/>
            <a:ext cx="8573051" cy="43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